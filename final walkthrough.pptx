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1589" y="5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8E69A-A2B7-4EA4-9A16-0DF503D7BD4D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529BE-2692-4742-A4C6-E1AE54C2D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6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529BE-2692-4742-A4C6-E1AE54C2D0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8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640080"/>
            <a:ext cx="2651760" cy="2651760"/>
          </a:xfrm>
          <a:prstGeom prst="ellipse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2011680"/>
            <a:ext cx="1828800" cy="1828800"/>
          </a:xfrm>
          <a:prstGeom prst="ellipse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749039"/>
            <a:ext cx="2103120" cy="2103120"/>
          </a:xfrm>
          <a:prstGeom prst="ellipse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1323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89A91"/>
                </a:solidFill>
                <a:latin typeface="Aptos"/>
              </a:rPr>
              <a:t>DATABASE MANAGEMENT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22376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Library Management
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65836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200" b="0">
                <a:solidFill>
                  <a:srgbClr val="CEDCEE"/>
                </a:solidFill>
                <a:latin typeface="Aptos"/>
              </a:rPr>
              <a:t>Final Walkthrough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6217920" cy="8229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Database design • Migrations • Redis caching
Query optimization • Security • Backup &amp;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BECEE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21208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300" b="1">
                <a:solidFill>
                  <a:srgbClr val="13233E"/>
                </a:solidFill>
                <a:latin typeface="Aptos"/>
              </a:rPr>
              <a:t>A reliable database for tracking library resources and borrowing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521208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Maintain books, authors, and member records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Record loans, due dates, and returns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Report active and overdue loans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Protect data integrity and support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810512"/>
            <a:ext cx="176479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CORE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67712"/>
            <a:ext cx="176479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Members
Books
Authors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23960" y="164592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25128" y="1810512"/>
            <a:ext cx="208483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267712"/>
            <a:ext cx="208483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Loans and returns
Audit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73152" cy="141732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3547872"/>
            <a:ext cx="176479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005072"/>
            <a:ext cx="176479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Indexes
Redis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3832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3383280"/>
            <a:ext cx="73152" cy="141732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5128" y="3547872"/>
            <a:ext cx="208483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4005072"/>
            <a:ext cx="208483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Migrations
Backup and 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Requirements and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36118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313639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3136392" cy="2862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Register library members
• Maintain book and author records
• Check books out and record returns
• Identify overdue loans
• Generate borrowing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36118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313639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76272"/>
            <a:ext cx="3136392" cy="2862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Referential integrity
• Least-privilege access
• Efficient searches and joins
• Repeatable schema changes
• Recoverable backups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554480"/>
            <a:ext cx="73152" cy="361188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719072"/>
            <a:ext cx="313639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KEY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176272"/>
            <a:ext cx="3136392" cy="2862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PostgreSQL is the source of truth
• Flyway versions schema changes
• Redis caches read-heavy catalog data
• EXPLAIN ANALYZE validates tuning
• Restore tests validate backups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ER model: entities and cardinalities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157984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84832"/>
            <a:ext cx="2157984" cy="7040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member_id
email (unique)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1783080"/>
            <a:ext cx="2157984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084832"/>
            <a:ext cx="2157984" cy="7040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loan_id
FK member_id, book_id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1783080"/>
            <a:ext cx="2157984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084832"/>
            <a:ext cx="2157984" cy="7040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book_id
ISBN (unique)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90888" y="3749039"/>
            <a:ext cx="1929384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AUTHORS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4050791"/>
            <a:ext cx="1929384" cy="7040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author_id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749039"/>
            <a:ext cx="2203704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BOOK_AUTHORS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50791"/>
            <a:ext cx="2203704" cy="7040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PK/FK book_id
PK/FK author_id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224028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2240280"/>
            <a:ext cx="59436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6840" y="4224528"/>
            <a:ext cx="27432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589520" y="2834640"/>
            <a:ext cx="228600" cy="82296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99232" y="1901952"/>
            <a:ext cx="5943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1 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1901952"/>
            <a:ext cx="5943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M 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840480"/>
            <a:ext cx="5943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M :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500" b="0">
                <a:solidFill>
                  <a:srgbClr val="202B3A"/>
                </a:solidFill>
                <a:latin typeface="Aptos"/>
              </a:rPr>
              <a:t>Relationships: one member can have many loans; one book can appear in many loan records over time; books and authors form a many-to-many relationship through BOOK_AUTHORS.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Schema as versioned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713232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1026871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V1  •  core_tables.sql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1026871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Members, authors, books, book_authors, loans, audit_logs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41448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441448"/>
            <a:ext cx="73152" cy="713232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606040"/>
            <a:ext cx="1026871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V2  •  indexes.sql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63240"/>
            <a:ext cx="1026871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Indexes for ISBN, title, member, book, and loan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82696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282696"/>
            <a:ext cx="73152" cy="713232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447288"/>
            <a:ext cx="1026871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V3  •  audit_and_triggers.sql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904487"/>
            <a:ext cx="1026871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Audit function and triggers for critical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123944"/>
            <a:ext cx="73152" cy="713232"/>
          </a:xfrm>
          <a:prstGeom prst="rect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4288536"/>
            <a:ext cx="1026871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V4  •  row_level_security.sql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745736"/>
            <a:ext cx="1026871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Roles and policies for protected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65192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965192"/>
            <a:ext cx="73152" cy="713232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5129783"/>
            <a:ext cx="1026871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V5  •  seed_demo_data.sql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586983"/>
            <a:ext cx="1026871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Repeatable test data for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97880"/>
            <a:ext cx="4846320" cy="438912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6044184"/>
            <a:ext cx="444398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CF8"/>
                </a:solidFill>
                <a:latin typeface="Consolas"/>
              </a:rPr>
              <a:t>flyway clean 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925312"/>
            <a:ext cx="530352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C34848"/>
                </a:solidFill>
                <a:latin typeface="Aptos"/>
              </a:rPr>
              <a:t>Run only on a disposable development/test database.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NoSQL layer: Redis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130552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1.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87752"/>
            <a:ext cx="19476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Requests book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196596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58768" y="2130552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2.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587752"/>
            <a:ext cx="19476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Cache hit? Return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1965960"/>
            <a:ext cx="73152" cy="141732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2130552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3.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587752"/>
            <a:ext cx="19476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On miss, query source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965960"/>
            <a:ext cx="73152" cy="141732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2130552"/>
            <a:ext cx="16733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4.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587752"/>
            <a:ext cx="167335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Store result with TTL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65176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65176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2651760"/>
            <a:ext cx="41148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069080"/>
            <a:ext cx="512064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800" b="1">
                <a:solidFill>
                  <a:srgbClr val="13233E"/>
                </a:solidFill>
                <a:latin typeface="Aptos"/>
              </a:rPr>
              <a:t>Why Redis?
Fast in-memory reads can reduce repeated catalog queries.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69080"/>
            <a:ext cx="4937760" cy="11887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Safeguards
Use expiration and invalidate catalog keys when book records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33272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189A91"/>
                </a:solidFill>
                <a:latin typeface="Aptos"/>
              </a:rPr>
              <a:t>PostgreSQL remains authoritative for members, books, loans, and transactional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Query optimization: measure before claiming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2120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ANALYTICAL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21208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200" b="1">
                <a:solidFill>
                  <a:srgbClr val="13233E"/>
                </a:solidFill>
                <a:latin typeface="Aptos"/>
              </a:rPr>
              <a:t>Which books have the highest number of active loans?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669280" cy="22860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935224"/>
            <a:ext cx="52669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CF8"/>
                </a:solidFill>
                <a:latin typeface="Consolas"/>
              </a:rPr>
              <a:t>EXPLAIN ANALYZE
SELECT b.book_id, b.title,
       COUNT(l.loan_id) AS active_loans
FROM books b
JOIN loans l ON l.book_id = b.book_id
WHERE l.status = 'active'
GROUP BY b.book_id, b.title
ORDER BY active_loans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6459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12280" y="1645920"/>
            <a:ext cx="73152" cy="10972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3448" y="1810512"/>
            <a:ext cx="4005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267712"/>
            <a:ext cx="40050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Run query and save actual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97180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2280" y="2971800"/>
            <a:ext cx="73152" cy="10972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3136392"/>
            <a:ext cx="4005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593592"/>
            <a:ext cx="40050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Create partial index on active loans(book_id).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429768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12280" y="4297680"/>
            <a:ext cx="73152" cy="109728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13448" y="4462272"/>
            <a:ext cx="4005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4919472"/>
            <a:ext cx="4005072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Rerun query; compare timing, scan type, rows, buffers.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33272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C34848"/>
                </a:solidFill>
                <a:latin typeface="Aptos"/>
              </a:rPr>
              <a:t>Evidence: evidence/before_plan.txt and evidence/after_plan.txt. Do not invent speed-up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Security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749808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764792"/>
            <a:ext cx="101315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21992"/>
            <a:ext cx="1013155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Application role receives only required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478024"/>
            <a:ext cx="73152" cy="749808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642616"/>
            <a:ext cx="101315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Row-level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99816"/>
            <a:ext cx="1013155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Policies limit access to protected records where applicable.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55848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355848"/>
            <a:ext cx="73152" cy="749808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520440"/>
            <a:ext cx="101315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Parameterized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77639"/>
            <a:ext cx="1013155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Pass values as parameters; avoid SQL string concatenation.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33672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233672"/>
            <a:ext cx="73152" cy="749808"/>
          </a:xfrm>
          <a:prstGeom prst="rect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398264"/>
            <a:ext cx="101315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55464"/>
            <a:ext cx="1013155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Record critical inserts, updates, and deletes.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11496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111496"/>
            <a:ext cx="73152" cy="749808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276088"/>
            <a:ext cx="1013155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Secrets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733288"/>
            <a:ext cx="10131552" cy="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Keep passwords and credentials outside source 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13233E"/>
                </a:solidFill>
                <a:latin typeface="Aptos"/>
              </a:rPr>
              <a:t>Security is verified by testing with the actual application roles—not by configuration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Backup and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029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CREATE A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212080" cy="9144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066544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CF8"/>
                </a:solidFill>
                <a:latin typeface="Consolas"/>
              </a:rPr>
              <a:t>mkdir -p backups
pg_dump -Fc -f backups/library_$(date +%F).dump library_db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02920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RESTORE TO A TEST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074920" cy="9144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066544"/>
            <a:ext cx="4672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CF8"/>
                </a:solidFill>
                <a:latin typeface="Consolas"/>
              </a:rPr>
              <a:t>createdb library_restore_test
pg_restore -d library_restore_test backups/library_YYYY-MM-DD.dump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429000"/>
            <a:ext cx="73152" cy="13258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5935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1. BACK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050791"/>
            <a:ext cx="2862072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Confirm the dump file exists and is non-empty.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429000"/>
            <a:ext cx="73152" cy="13258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35935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2.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050791"/>
            <a:ext cx="2862072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Restore to a separate test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3429000"/>
            <a:ext cx="73152" cy="132588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5935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3.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050791"/>
            <a:ext cx="2862072" cy="5760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Check tables, rows, constraints, and indexes.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103327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1">
                <a:solidFill>
                  <a:srgbClr val="C34848"/>
                </a:solidFill>
                <a:latin typeface="Aptos"/>
              </a:rPr>
              <a:t>Replace YYYY-MM-DD with the actual filename date. A backup is validated only after a successful test restore.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Validation and 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ER diagram reviewed; cardinalities and keys confirmed.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21992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All five migrations succeed on a clean test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0020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76479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21992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Cache hit/miss and invalidation behavior tested.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4747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63931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96511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Before/after EXPLAIN ANALYZE plans saved and compared.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63931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96511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Backup restored and database contents verified.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34747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8" y="3639312"/>
            <a:ext cx="28620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4096511"/>
            <a:ext cx="2862072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Role permissions, RLS policies, and parameterized queries tested.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500" b="1">
                <a:solidFill>
                  <a:srgbClr val="13233E"/>
                </a:solidFill>
                <a:latin typeface="Aptos"/>
              </a:rPr>
              <a:t>Status should be marked complete only after the corresponding evidence has been collected.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822960"/>
            <a:ext cx="1024128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200" b="1" dirty="0">
                <a:solidFill>
                  <a:srgbClr val="189A91"/>
                </a:solidFill>
                <a:latin typeface="Aptos"/>
              </a:rPr>
              <a:t>FINAL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987552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From database design
to a secure, recoverable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896112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2000" b="0">
                <a:solidFill>
                  <a:srgbClr val="D7E2F0"/>
                </a:solidFill>
                <a:latin typeface="Aptos"/>
              </a:rPr>
              <a:t>The capstone brings together relational modeling, repeatable migrations, Redis caching, evidence-based optimization, security controls, and tested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0467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r>
              <a:rPr sz="1800" b="1">
                <a:solidFill>
                  <a:srgbClr val="189A91"/>
                </a:solidFill>
                <a:latin typeface="Aptos"/>
              </a:rPr>
              <a:t>Thank you  • 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/>
            <a:r>
              <a:rPr sz="1000" b="1">
                <a:solidFill>
                  <a:srgbClr val="BECEE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1010</Words>
  <Application>Microsoft Office PowerPoint</Application>
  <PresentationFormat>Widescreen</PresentationFormat>
  <Paragraphs>146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Hassan Aden Isaack</dc:creator>
  <cp:keywords/>
  <dc:description>generated using python-pptx</dc:description>
  <cp:lastModifiedBy>Hassan Issack</cp:lastModifiedBy>
  <cp:revision>2</cp:revision>
  <dcterms:created xsi:type="dcterms:W3CDTF">2013-01-27T09:14:16Z</dcterms:created>
  <dcterms:modified xsi:type="dcterms:W3CDTF">2026-10-13T20:08:25Z</dcterms:modified>
  <cp:category/>
</cp:coreProperties>
</file>