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03920" y="640080"/>
            <a:ext cx="2651760" cy="2651760"/>
          </a:xfrm>
          <a:prstGeom prst="ellipse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2011680"/>
            <a:ext cx="1828800" cy="1828800"/>
          </a:xfrm>
          <a:prstGeom prst="ellipse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3749039"/>
            <a:ext cx="2103120" cy="2103120"/>
          </a:xfrm>
          <a:prstGeom prst="ellipse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713232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1">
                <a:solidFill>
                  <a:srgbClr val="189A91"/>
                </a:solidFill>
                <a:latin typeface="Aptos"/>
              </a:rPr>
              <a:t>DATABASE MANAGEMENT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7223760" cy="1371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ptos"/>
              </a:rPr>
              <a:t>Library Management
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658368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2200" b="0">
                <a:solidFill>
                  <a:srgbClr val="CEDCEE"/>
                </a:solidFill>
                <a:latin typeface="Aptos"/>
              </a:rPr>
              <a:t>Final Walkthrough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6217920" cy="8229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Aptos"/>
              </a:rPr>
              <a:t>Database design • Migrations • Redis caching
Query optimization • Security • Backup &amp; recovery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053328"/>
            <a:ext cx="59436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200" b="1">
                <a:solidFill>
                  <a:srgbClr val="BECEE2"/>
                </a:solidFill>
                <a:latin typeface="Aptos"/>
              </a:rPr>
              <a:t>PostgreSQL  |  Flyway  |  Redis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BECEE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5212080" cy="10972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2300" b="1">
                <a:solidFill>
                  <a:srgbClr val="13233E"/>
                </a:solidFill>
                <a:latin typeface="Aptos"/>
              </a:rPr>
              <a:t>A reliable database for tracking library resources and borrowing activity.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5212080" cy="29260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02B3A"/>
                </a:solidFill>
                <a:latin typeface="Aptos"/>
              </a:defRPr>
            </a:pPr>
            <a:r>
              <a:t>Maintain books, authors, and member records</a:t>
            </a:r>
          </a:p>
          <a:p>
            <a:pPr>
              <a:spcAft>
                <a:spcPts val="1300"/>
              </a:spcAft>
              <a:defRPr sz="1800">
                <a:solidFill>
                  <a:srgbClr val="202B3A"/>
                </a:solidFill>
                <a:latin typeface="Aptos"/>
              </a:defRPr>
            </a:pPr>
            <a:r>
              <a:t>Record loans, due dates, and returns</a:t>
            </a:r>
          </a:p>
          <a:p>
            <a:pPr>
              <a:spcAft>
                <a:spcPts val="1300"/>
              </a:spcAft>
              <a:defRPr sz="1800">
                <a:solidFill>
                  <a:srgbClr val="202B3A"/>
                </a:solidFill>
                <a:latin typeface="Aptos"/>
              </a:defRPr>
            </a:pPr>
            <a:r>
              <a:t>Report active and overdue loans</a:t>
            </a:r>
          </a:p>
          <a:p>
            <a:pPr>
              <a:spcAft>
                <a:spcPts val="1300"/>
              </a:spcAft>
              <a:defRPr sz="1800">
                <a:solidFill>
                  <a:srgbClr val="202B3A"/>
                </a:solidFill>
                <a:latin typeface="Aptos"/>
              </a:defRPr>
            </a:pPr>
            <a:r>
              <a:t>Protect data integrity and support recovery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645920"/>
            <a:ext cx="73152" cy="141732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810512"/>
            <a:ext cx="176479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CORE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267712"/>
            <a:ext cx="176479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Members
Books
Authors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23960" y="1645920"/>
            <a:ext cx="73152" cy="141732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25128" y="1810512"/>
            <a:ext cx="208483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TRANSACTIONS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2267712"/>
            <a:ext cx="208483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Loans and returns
Audit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383280"/>
            <a:ext cx="21488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383280"/>
            <a:ext cx="73152" cy="1417320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3547872"/>
            <a:ext cx="176479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4005072"/>
            <a:ext cx="176479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Indexes
Redis cache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23960" y="338328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3960" y="3383280"/>
            <a:ext cx="73152" cy="1417320"/>
          </a:xfrm>
          <a:prstGeom prst="rect">
            <a:avLst/>
          </a:prstGeom>
          <a:solidFill>
            <a:srgbClr val="2C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25128" y="3547872"/>
            <a:ext cx="208483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4005072"/>
            <a:ext cx="208483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Migrations
Backup and restore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Requirements and design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73152" cy="361188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313639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FUNCTIONAL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176272"/>
            <a:ext cx="3136392" cy="28620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• Register library members
• Maintain book and author records
• Check books out and record returns
• Identify overdue loans
• Generate borrowing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73152" cy="361188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19072"/>
            <a:ext cx="313639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NON-FUNCTIONAL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176272"/>
            <a:ext cx="3136392" cy="28620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• Referential integrity
• Least-privilege access
• Efficient searches and joins
• Repeatable schema changes
• Recoverable backups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554480"/>
            <a:ext cx="352044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554480"/>
            <a:ext cx="73152" cy="3611880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719072"/>
            <a:ext cx="313639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KEY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176272"/>
            <a:ext cx="3136392" cy="28620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• PostgreSQL is the source of truth
• Flyway versions schema changes
• Redis caches read-heavy catalog data
• EXPLAIN ANALYZE validates tuning
• Restore tests validate backups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ER model: entities and cardinalities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2157984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1">
                <a:solidFill>
                  <a:srgbClr val="13233E"/>
                </a:solidFill>
                <a:latin typeface="Aptos"/>
              </a:rPr>
              <a:t>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084832"/>
            <a:ext cx="2157984" cy="7040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0">
                <a:solidFill>
                  <a:srgbClr val="202B3A"/>
                </a:solidFill>
                <a:latin typeface="Aptos"/>
              </a:rPr>
              <a:t>PK member_id
email (unique)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69164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7328" y="1783080"/>
            <a:ext cx="2157984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1">
                <a:solidFill>
                  <a:srgbClr val="13233E"/>
                </a:solidFill>
                <a:latin typeface="Aptos"/>
              </a:rPr>
              <a:t>LOANS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084832"/>
            <a:ext cx="2157984" cy="7040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0">
                <a:solidFill>
                  <a:srgbClr val="202B3A"/>
                </a:solidFill>
                <a:latin typeface="Aptos"/>
              </a:rPr>
              <a:t>PK loan_id
FK member_id, book_id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691640"/>
            <a:ext cx="2377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9128" y="1783080"/>
            <a:ext cx="2157984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1">
                <a:solidFill>
                  <a:srgbClr val="13233E"/>
                </a:solidFill>
                <a:latin typeface="Aptos"/>
              </a:rPr>
              <a:t>BOOKS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9128" y="2084832"/>
            <a:ext cx="2157984" cy="7040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0">
                <a:solidFill>
                  <a:srgbClr val="202B3A"/>
                </a:solidFill>
                <a:latin typeface="Aptos"/>
              </a:rPr>
              <a:t>PK book_id
ISBN (unique)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3657600"/>
            <a:ext cx="21488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0888" y="3749039"/>
            <a:ext cx="1929384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1">
                <a:solidFill>
                  <a:srgbClr val="13233E"/>
                </a:solidFill>
                <a:latin typeface="Aptos"/>
              </a:rPr>
              <a:t>AUTHORS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0888" y="4050791"/>
            <a:ext cx="1929384" cy="7040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0">
                <a:solidFill>
                  <a:srgbClr val="202B3A"/>
                </a:solidFill>
                <a:latin typeface="Aptos"/>
              </a:rPr>
              <a:t>PK author_id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8D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749039"/>
            <a:ext cx="2203704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1">
                <a:solidFill>
                  <a:srgbClr val="13233E"/>
                </a:solidFill>
                <a:latin typeface="Aptos"/>
              </a:rPr>
              <a:t>BOOK_AUTHORS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4050791"/>
            <a:ext cx="2203704" cy="70408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0">
                <a:solidFill>
                  <a:srgbClr val="202B3A"/>
                </a:solidFill>
                <a:latin typeface="Aptos"/>
              </a:rPr>
              <a:t>PK/FK book_id
PK/FK author_id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8960" y="2240280"/>
            <a:ext cx="548640" cy="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35040" y="2240280"/>
            <a:ext cx="594360" cy="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006840" y="4224528"/>
            <a:ext cx="274320" cy="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7589520" y="2834640"/>
            <a:ext cx="228600" cy="82296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99232" y="1901952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1 :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16752" y="1901952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M :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840480"/>
            <a:ext cx="59436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M : 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12080"/>
            <a:ext cx="10515600" cy="6858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500" b="0">
                <a:solidFill>
                  <a:srgbClr val="202B3A"/>
                </a:solidFill>
                <a:latin typeface="Aptos"/>
              </a:rPr>
              <a:t>Relationships: one member can have many loans; one book can appear in many loan records over time; books and authors form a many-to-many relationship through BOOK_AUTHORS.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925312"/>
            <a:ext cx="1051560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The model also includes AUDIT_LOGS for critical database events. Final ERD should be reviewed before SQL implementation.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Schema as versioned migrations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73152" cy="713232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64792"/>
            <a:ext cx="1026871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V1  •  core_tables.sql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21992"/>
            <a:ext cx="10268712" cy="-36575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Members, authors, books, book_authors, loans, audit_logs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41448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441448"/>
            <a:ext cx="73152" cy="713232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606040"/>
            <a:ext cx="1026871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V2  •  indexes.sql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063240"/>
            <a:ext cx="10268712" cy="-36575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Indexes for ISBN, title, member, book, and loan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82696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282696"/>
            <a:ext cx="73152" cy="713232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447288"/>
            <a:ext cx="1026871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V3  •  audit_and_triggers.sql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3904487"/>
            <a:ext cx="10268712" cy="-36575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Audit function and triggers for critical changes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23944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123944"/>
            <a:ext cx="73152" cy="713232"/>
          </a:xfrm>
          <a:prstGeom prst="rect">
            <a:avLst/>
          </a:prstGeom>
          <a:solidFill>
            <a:srgbClr val="C3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4288536"/>
            <a:ext cx="1026871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V4  •  row_level_security.sql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745736"/>
            <a:ext cx="10268712" cy="-36575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Roles and policies for protected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965192"/>
            <a:ext cx="1065276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965192"/>
            <a:ext cx="73152" cy="713232"/>
          </a:xfrm>
          <a:prstGeom prst="rect">
            <a:avLst/>
          </a:prstGeom>
          <a:solidFill>
            <a:srgbClr val="2C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5129783"/>
            <a:ext cx="1026871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V5  •  seed_demo_data.sql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5586983"/>
            <a:ext cx="10268712" cy="-36575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Repeatable test data for development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897880"/>
            <a:ext cx="4846320" cy="438912"/>
          </a:xfrm>
          <a:prstGeom prst="round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6044184"/>
            <a:ext cx="444398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ECF8"/>
                </a:solidFill>
                <a:latin typeface="Consolas"/>
              </a:rPr>
              <a:t>flyway clean migrate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5925312"/>
            <a:ext cx="53035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200" b="1">
                <a:solidFill>
                  <a:srgbClr val="C34848"/>
                </a:solidFill>
                <a:latin typeface="Aptos"/>
              </a:rPr>
              <a:t>Run only on a disposable development/test database.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NoSQL layer: Redis cache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73152" cy="141732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130552"/>
            <a:ext cx="19476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1. 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587752"/>
            <a:ext cx="194767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Requests book catalog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9659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965960"/>
            <a:ext cx="73152" cy="141732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8768" y="2130552"/>
            <a:ext cx="19476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2. REDIS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587752"/>
            <a:ext cx="194767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Cache hit? Return 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196596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1965960"/>
            <a:ext cx="73152" cy="1417320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2130552"/>
            <a:ext cx="19476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3.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2587752"/>
            <a:ext cx="194767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On miss, query source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1160" y="196596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81160" y="1965960"/>
            <a:ext cx="73152" cy="1417320"/>
          </a:xfrm>
          <a:prstGeom prst="rect">
            <a:avLst/>
          </a:prstGeom>
          <a:solidFill>
            <a:srgbClr val="2C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2130552"/>
            <a:ext cx="167335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4. 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587752"/>
            <a:ext cx="167335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Store result with TTL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2651760"/>
            <a:ext cx="548640" cy="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989320" y="2651760"/>
            <a:ext cx="548640" cy="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869680" y="2651760"/>
            <a:ext cx="411480" cy="0"/>
          </a:xfrm>
          <a:prstGeom prst="line">
            <a:avLst/>
          </a:prstGeom>
          <a:ln w="25400">
            <a:solidFill>
              <a:srgbClr val="189A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68680" y="4069080"/>
            <a:ext cx="5120640" cy="11887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800" b="1">
                <a:solidFill>
                  <a:srgbClr val="13233E"/>
                </a:solidFill>
                <a:latin typeface="Aptos"/>
              </a:rPr>
              <a:t>Why Redis?
Fast in-memory reads can reduce repeated catalog queries.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069080"/>
            <a:ext cx="4937760" cy="11887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Safeguards
Use expiration and invalidate catalog keys when book records change.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623560"/>
            <a:ext cx="1033272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1">
                <a:solidFill>
                  <a:srgbClr val="189A91"/>
                </a:solidFill>
                <a:latin typeface="Aptos"/>
              </a:rPr>
              <a:t>PostgreSQL remains authoritative for members, books, loans, and transactional updates.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Query optimization: measure before claiming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212080" cy="4114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200" b="1">
                <a:solidFill>
                  <a:srgbClr val="189A91"/>
                </a:solidFill>
                <a:latin typeface="Aptos"/>
              </a:rPr>
              <a:t>ANALYTICAL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212080" cy="7315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2200" b="1">
                <a:solidFill>
                  <a:srgbClr val="13233E"/>
                </a:solidFill>
                <a:latin typeface="Aptos"/>
              </a:rPr>
              <a:t>Which books have the highest number of active loans?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5669280" cy="2286000"/>
          </a:xfrm>
          <a:prstGeom prst="round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935224"/>
            <a:ext cx="526694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CF8"/>
                </a:solidFill>
                <a:latin typeface="Consolas"/>
              </a:rPr>
              <a:t>EXPLAIN ANALYZE
SELECT b.book_id, b.title,
       COUNT(l.loan_id) AS active_loans
FROM books b
JOIN loans l ON l.book_id = b.book_id
WHERE l.status = 'active'
GROUP BY b.book_id, b.title
ORDER BY active_loans DESC;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64592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2280" y="1645920"/>
            <a:ext cx="73152" cy="109728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3448" y="1810512"/>
            <a:ext cx="40050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2267712"/>
            <a:ext cx="4005072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Run query and save actual plan.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97180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12280" y="2971800"/>
            <a:ext cx="73152" cy="109728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13448" y="3136392"/>
            <a:ext cx="40050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3593592"/>
            <a:ext cx="4005072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Create partial index on active loans(book_id).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429768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80" y="4297680"/>
            <a:ext cx="73152" cy="1097280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3448" y="4462272"/>
            <a:ext cx="40050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AFTER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4919472"/>
            <a:ext cx="4005072" cy="3474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Rerun query; compare timing, scan type, rows, buffers.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10332720" cy="4572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200" b="1">
                <a:solidFill>
                  <a:srgbClr val="C34848"/>
                </a:solidFill>
                <a:latin typeface="Aptos"/>
              </a:rPr>
              <a:t>Evidence: evidence/before_plan.txt and evidence/after_plan.txt. Do not invent speed-up numbers.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Security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73152" cy="749808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64792"/>
            <a:ext cx="1013155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Least privilege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221992"/>
            <a:ext cx="10131552" cy="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Application role receives only required permissions.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78024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478024"/>
            <a:ext cx="73152" cy="749808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642616"/>
            <a:ext cx="1013155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Row-level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099816"/>
            <a:ext cx="10131552" cy="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Policies limit access to protected records where applicable.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55848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355848"/>
            <a:ext cx="73152" cy="749808"/>
          </a:xfrm>
          <a:prstGeom prst="rect">
            <a:avLst/>
          </a:prstGeom>
          <a:solidFill>
            <a:srgbClr val="EB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520440"/>
            <a:ext cx="1013155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Parameterized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977639"/>
            <a:ext cx="10131552" cy="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Pass values as parameters; avoid SQL string concatenation.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33672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233672"/>
            <a:ext cx="73152" cy="749808"/>
          </a:xfrm>
          <a:prstGeom prst="rect">
            <a:avLst/>
          </a:prstGeom>
          <a:solidFill>
            <a:srgbClr val="C34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4398264"/>
            <a:ext cx="1013155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Audit trail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855464"/>
            <a:ext cx="10131552" cy="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Record critical inserts, updates, and deletes.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11496"/>
            <a:ext cx="105156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111496"/>
            <a:ext cx="73152" cy="749808"/>
          </a:xfrm>
          <a:prstGeom prst="rect">
            <a:avLst/>
          </a:prstGeom>
          <a:solidFill>
            <a:srgbClr val="2C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5276088"/>
            <a:ext cx="1013155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Secrets handling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5733288"/>
            <a:ext cx="10131552" cy="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Keep passwords and credentials outside source code.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989320"/>
            <a:ext cx="10424160" cy="2743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200" b="1">
                <a:solidFill>
                  <a:srgbClr val="13233E"/>
                </a:solidFill>
                <a:latin typeface="Aptos"/>
              </a:rPr>
              <a:t>Security is verified by testing with the actual application roles—not by configuration alone.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Backup and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50292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200" b="1">
                <a:solidFill>
                  <a:srgbClr val="189A91"/>
                </a:solidFill>
                <a:latin typeface="Aptos"/>
              </a:rPr>
              <a:t>CREATE A BACKUP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20240"/>
            <a:ext cx="5212080" cy="914400"/>
          </a:xfrm>
          <a:prstGeom prst="round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66544"/>
            <a:ext cx="4809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E0ECF8"/>
                </a:solidFill>
                <a:latin typeface="Consolas"/>
              </a:rPr>
              <a:t>mkdir -p backups
pg_dump -Fc -f backups/library_$(date +%F).dump library_db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02920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200" b="1">
                <a:solidFill>
                  <a:srgbClr val="189A91"/>
                </a:solidFill>
                <a:latin typeface="Aptos"/>
              </a:rPr>
              <a:t>RESTORE TO A TEST DATABASE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074920" cy="914400"/>
          </a:xfrm>
          <a:prstGeom prst="roundRect">
            <a:avLst/>
          </a:prstGeom>
          <a:solidFill>
            <a:srgbClr val="1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66544"/>
            <a:ext cx="4672583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E0ECF8"/>
                </a:solidFill>
                <a:latin typeface="Consolas"/>
              </a:rPr>
              <a:t>createdb library_restore_test
pg_restore -d library_restore_test backups/library_YYYY-MM-DD.dump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290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429000"/>
            <a:ext cx="73152" cy="132588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593592"/>
            <a:ext cx="28620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1. BACK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050791"/>
            <a:ext cx="2862072" cy="5760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Confirm the dump file exists and is non-empty.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4290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429000"/>
            <a:ext cx="73152" cy="132588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3593592"/>
            <a:ext cx="28620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2. RESTORE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4050791"/>
            <a:ext cx="2862072" cy="5760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Restore to a separate test database.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42900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3429000"/>
            <a:ext cx="73152" cy="1325880"/>
          </a:xfrm>
          <a:prstGeom prst="rect">
            <a:avLst/>
          </a:prstGeom>
          <a:solidFill>
            <a:srgbClr val="2C96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3593592"/>
            <a:ext cx="28620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3.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2168" y="4050791"/>
            <a:ext cx="2862072" cy="57607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Check tables, rows, constraints, and indexes.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257800"/>
            <a:ext cx="10332720" cy="5486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1">
                <a:solidFill>
                  <a:srgbClr val="C34848"/>
                </a:solidFill>
                <a:latin typeface="Aptos"/>
              </a:rPr>
              <a:t>Replace YYYY-MM-DD with the actual filename date. A backup is validated only after a successful test restore.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25603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000" b="1">
                <a:solidFill>
                  <a:srgbClr val="189A91"/>
                </a:solidFill>
                <a:latin typeface="Aptos"/>
              </a:rPr>
              <a:t>LIBRARY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66928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2800" b="1">
                <a:solidFill>
                  <a:srgbClr val="13233E"/>
                </a:solidFill>
                <a:latin typeface="Aptos"/>
              </a:rPr>
              <a:t>Validation and acceptance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43584"/>
            <a:ext cx="749808" cy="54864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73152" cy="141732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64792"/>
            <a:ext cx="28620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21992"/>
            <a:ext cx="286207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ER diagram reviewed; cardinalities and keys confirmed.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002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00200"/>
            <a:ext cx="73152" cy="141732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764792"/>
            <a:ext cx="28620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Migrations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221992"/>
            <a:ext cx="286207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All five migrations succeed on a clean test database.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60020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600200"/>
            <a:ext cx="73152" cy="141732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764792"/>
            <a:ext cx="28620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Redis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2221992"/>
            <a:ext cx="286207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Cache hit/miss and invalidation behavior tested.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747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474720"/>
            <a:ext cx="73152" cy="141732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639312"/>
            <a:ext cx="28620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096511"/>
            <a:ext cx="286207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Before/after EXPLAIN ANALYZE plans saved and compared.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4747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474720"/>
            <a:ext cx="73152" cy="1417320"/>
          </a:xfrm>
          <a:prstGeom prst="rect">
            <a:avLst/>
          </a:prstGeom>
          <a:solidFill>
            <a:srgbClr val="189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639312"/>
            <a:ext cx="28620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4096511"/>
            <a:ext cx="286207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Backup restored and database contents verified.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347472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3474720"/>
            <a:ext cx="73152" cy="1417320"/>
          </a:xfrm>
          <a:prstGeom prst="rect">
            <a:avLst/>
          </a:prstGeom>
          <a:solidFill>
            <a:srgbClr val="2C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168" y="3639312"/>
            <a:ext cx="2862072" cy="36576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700" b="1">
                <a:solidFill>
                  <a:srgbClr val="13233E"/>
                </a:solidFill>
                <a:latin typeface="Aptos"/>
              </a:rPr>
              <a:t>Security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2168" y="4096511"/>
            <a:ext cx="2862072" cy="667512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300" b="0">
                <a:solidFill>
                  <a:srgbClr val="202B3A"/>
                </a:solidFill>
                <a:latin typeface="Aptos"/>
              </a:rPr>
              <a:t>Role permissions, RLS policies, and parameterized queries tested.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623560"/>
            <a:ext cx="1051560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500" b="1">
                <a:solidFill>
                  <a:srgbClr val="13233E"/>
                </a:solidFill>
                <a:latin typeface="Aptos"/>
              </a:rPr>
              <a:t>Status should be marked complete only after the corresponding evidence has been collected.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900" b="0">
                <a:solidFill>
                  <a:srgbClr val="64748B"/>
                </a:solidFill>
                <a:latin typeface="Aptos"/>
              </a:rPr>
              <a:t>DATABASE MANAGEMENT CAPSTONE  •  FINAL WALKTHROUGH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822960"/>
            <a:ext cx="10241280" cy="32004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200" b="1">
                <a:solidFill>
                  <a:srgbClr val="189A91"/>
                </a:solidFill>
                <a:latin typeface="Aptos"/>
              </a:rPr>
              <a:t>FINAL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08760"/>
            <a:ext cx="9875520" cy="10972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From database design
to a secure, recoverable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8961120" cy="109728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2000" b="0">
                <a:solidFill>
                  <a:srgbClr val="D7E2F0"/>
                </a:solidFill>
                <a:latin typeface="Aptos"/>
              </a:rPr>
              <a:t>The capstone brings together relational modeling, repeatable migrations, Redis caching, evidence-based optimization, security controls, and tested recovery.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8046720" cy="50292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r>
              <a:rPr sz="1800" b="1">
                <a:solidFill>
                  <a:srgbClr val="189A91"/>
                </a:solidFill>
                <a:latin typeface="Aptos"/>
              </a:rPr>
              <a:t>Thank you  • 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502920" cy="228600"/>
          </a:xfrm>
          <a:prstGeom prst="rect">
            <a:avLst/>
          </a:prstGeom>
          <a:noFill/>
        </p:spPr>
        <p:txBody>
          <a:bodyPr wrap="square" lIns="36576" rIns="36576" tIns="27432" bIns="27432" anchor="t">
            <a:spAutoFit/>
          </a:bodyPr>
          <a:lstStyle/>
          <a:p>
            <a:pPr algn="r"/>
            <a:r>
              <a:rPr sz="1000" b="1">
                <a:solidFill>
                  <a:srgbClr val="BECEE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